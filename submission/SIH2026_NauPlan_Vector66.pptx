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ih.gov.in/sih2026PS" TargetMode="External"/><Relationship Id="rId5" Type="http://schemas.openxmlformats.org/officeDocument/2006/relationships/hyperlink" Target="https://www.balticexchange.com/content/dam/balticexchange/consumer/documents/data-services/documentation/ocean-bulk-guides-policies/GMB.pdf" TargetMode="External"/><Relationship Id="rId6" Type="http://schemas.openxmlformats.org/officeDocument/2006/relationships/hyperlink" Target="https://vpt.shipping.gov.in/admin_assets/uploads/1640237145_Berth%20Details.pdf" TargetMode="External"/><Relationship Id="rId7" Type="http://schemas.openxmlformats.org/officeDocument/2006/relationships/hyperlink" Target="https://www.adaniports.com/-/media/Project/Ports/PortsAndTerminals/Quick-Links/Dhamra-BPTS_DPC_01-WEF-1st-Oct-2025.pdf" TargetMode="External"/><Relationship Id="rId8" Type="http://schemas.openxmlformats.org/officeDocument/2006/relationships/hyperlink" Target="https://dbct.squarespace.com/s/Terminal-Information-Booklet-Procedure.pdf" TargetMode="External"/><Relationship Id="rId9" Type="http://schemas.openxmlformats.org/officeDocument/2006/relationships/hyperlink" Target="https://torrespilots.com.au/pilot-info/draft-restrictions/" TargetMode="External"/><Relationship Id="rId10" Type="http://schemas.openxmlformats.org/officeDocument/2006/relationships/hyperlink" Target="https://fred.stlouisfed.org/series/DEXINUS" TargetMode="External"/><Relationship Id="rId11" Type="http://schemas.openxmlformats.org/officeDocument/2006/relationships/hyperlink" Target="https://highs.dev" TargetMode="External"/><Relationship Id="rId12" Type="http://schemas.openxmlformats.org/officeDocument/2006/relationships/hyperlink" Target="https://github.com/Tarkshya-26/naupl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NAUPLAN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28800"/>
            <a:ext cx="6355080" cy="4846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0"/>
              </a:spcAft>
            </a:pPr>
            <a:endParaRPr lang="en-US" dirty="0" sz="800"/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SIH26006</a:t>
            </a:r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Development of an Intelligent Freight Forecasting Model for Optimized Vessel Chartering and Bulk Cargo Procurement from overseas to East Coast of India</a:t>
            </a:r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183490</a:t>
            </a:r>
          </a:p>
          <a:p>
            <a:pPr marL="28575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- Vector66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NAUPLAN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88720"/>
            <a:ext cx="12191999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</a:p>
          <a:p>
            <a:pPr marL="34290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NauPlan: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a working prototype that moves SAIL from daily spot fixtures to short / medium term multi-voyage contracts for East Coast coal imports.</a:t>
            </a:r>
          </a:p>
          <a:p>
            <a:pPr marL="342900" indent="-342900" algn="just">
              <a:spcBef>
                <a:spcPts val="7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Freight forecast: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P10 / P50 / P90 ranges 1 to 26 weeks ahead, judged by walk-forward backtest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Vessel-port fit: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Baltic standard ships vs draft, LOA, beam at 7 East Coast and 12 load ports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Contract strategy: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optimiser picks spot, 3 / 6-month time charter or COA, and when to fix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Idle control: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spare chartered days relet to the market; idle days tracked each month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b="1" dirty="0">
                <a:latin typeface="Arial" pitchFamily="34" charset="0"/>
                <a:cs typeface="Arial" pitchFamily="34" charset="0"/>
              </a:rPr>
              <a:t xml:space="preserve">Early warnings: </a:t>
            </a:r>
            <a:r>
              <a:rPr lang="en-US" sz="1450" dirty="0">
                <a:latin typeface="Arial" pitchFamily="34" charset="0"/>
                <a:cs typeface="Arial" pitchFamily="34" charset="0"/>
              </a:rPr>
              <a:t>sea state at all 7 ports, freight volatility, missing data flagged</a:t>
            </a:r>
          </a:p>
          <a:p>
            <a:pPr marL="342900" indent="-342900" algn="just">
              <a:spcBef>
                <a:spcPts val="7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dirty="0">
                <a:latin typeface="Arial" pitchFamily="34" charset="0"/>
                <a:cs typeface="Arial" pitchFamily="34" charset="0"/>
              </a:rPr>
              <a:t>Replaces daily fixing with a contract plan tested on 200 freight scenarios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dirty="0">
                <a:latin typeface="Arial" pitchFamily="34" charset="0"/>
                <a:cs typeface="Arial" pitchFamily="34" charset="0"/>
              </a:rPr>
              <a:t>Shows why each ship can or cannot call, and the cargo cut at each draft limit</a:t>
            </a:r>
          </a:p>
          <a:p>
            <a:pPr marL="342900" indent="-342900" algn="just">
              <a:spcBef>
                <a:spcPts val="7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dirty="0">
                <a:latin typeface="Arial" pitchFamily="34" charset="0"/>
                <a:cs typeface="Arial" pitchFamily="34" charset="0"/>
              </a:rPr>
              <a:t>Plans on honest ranges and worst-case cost (CVaR), not on a single price guess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50" dirty="0">
                <a:latin typeface="Arial" pitchFamily="34" charset="0"/>
                <a:cs typeface="Arial" pitchFamily="34" charset="0"/>
              </a:rPr>
              <a:t>Every port limit cites its source; Paradip Capesize cargo within 1% of a real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/>
              <a:t>Vector66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078992"/>
            <a:ext cx="10972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200"/>
              </a:spcAft>
              <a:buFont typeface="Arial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 xml:space="preserve">Data &amp; ML: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Python, pandas, statsmodels, LightGBM; FRED, World Bank, Open-Meteo, BDRY feeds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 xml:space="preserve">Ports &amp; routes: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cited berth limits for 19 ports; searoute (MARNET) with deep-draft and avoid-Suez routes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 xml:space="preserve">Optimisation: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two-stage stochastic MILP in PuLP with the HiGHS solver; CVaR risk term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 xml:space="preserve">App: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FastAPI backend, React + Vite + d3 dashboard; 37 automated tests; code on GitHub</a:t>
            </a:r>
          </a:p>
          <a:p>
            <a:pPr marL="342900" indent="-342900" algn="just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en-US" sz="1800" dirty="0" b="1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/>
              <a:t>Vector66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685800" y="2852928"/>
            <a:ext cx="2468880" cy="310896"/>
          </a:xfrm>
          <a:prstGeom prst="rect">
            <a:avLst/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1. Data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685800" y="3163824"/>
            <a:ext cx="2468880" cy="78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18288">
            <a:no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Freight proxy, fuel, FX, coal prices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Berth limits for 19 ports, cited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Sea routes and sea state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182112" y="3401568"/>
            <a:ext cx="265176" cy="0"/>
          </a:xfrm>
          <a:prstGeom prst="line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ectangle 17413"/>
          <p:cNvSpPr/>
          <p:nvPr/>
        </p:nvSpPr>
        <p:spPr>
          <a:xfrm>
            <a:off x="3474720" y="2852928"/>
            <a:ext cx="2468880" cy="310896"/>
          </a:xfrm>
          <a:prstGeom prst="rect">
            <a:avLst/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2. Forecast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474720" y="3163824"/>
            <a:ext cx="2468880" cy="78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18288">
            <a:no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6 models, walk-forward backtest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P10 / P50 / P90, 1 to 26 weeks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Volatility warning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971032" y="3401568"/>
            <a:ext cx="265175" cy="0"/>
          </a:xfrm>
          <a:prstGeom prst="line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ectangle 17416"/>
          <p:cNvSpPr/>
          <p:nvPr/>
        </p:nvSpPr>
        <p:spPr>
          <a:xfrm>
            <a:off x="6263640" y="2852928"/>
            <a:ext cx="2468880" cy="310896"/>
          </a:xfrm>
          <a:prstGeom prst="rect">
            <a:avLst/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3. Optimise (MILP)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6263640" y="3163824"/>
            <a:ext cx="2468880" cy="78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18288">
            <a:no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Ship fit and draft cargo cut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Spot vs TC vs COA, entry month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200 scenarios, cost + CVaR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8759952" y="3401568"/>
            <a:ext cx="265176" cy="0"/>
          </a:xfrm>
          <a:prstGeom prst="line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ectangle 17419"/>
          <p:cNvSpPr/>
          <p:nvPr/>
        </p:nvSpPr>
        <p:spPr>
          <a:xfrm>
            <a:off x="9052560" y="2852928"/>
            <a:ext cx="2468880" cy="310896"/>
          </a:xfrm>
          <a:prstGeom prst="rect">
            <a:avLst/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4. Decide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9052560" y="3163824"/>
            <a:ext cx="2468880" cy="78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18288">
            <a:no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Dashboard: plan and timeline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Why each ship fits or not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Warnings; manager approves</a:t>
            </a:r>
          </a:p>
        </p:txBody>
      </p:sp>
      <p:pic>
        <p:nvPicPr>
          <p:cNvPr id="17422" name="Picture 17421" descr="_crop_dash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78224"/>
            <a:ext cx="3446272" cy="1938528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17423" name="TextBox 17422"/>
          <p:cNvSpPr txBox="1"/>
          <p:nvPr/>
        </p:nvSpPr>
        <p:spPr>
          <a:xfrm>
            <a:off x="685800" y="6035040"/>
            <a:ext cx="344627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50" i="1" b="0">
                <a:solidFill>
                  <a:srgbClr val="404040"/>
                </a:solidFill>
                <a:latin typeface="Arial"/>
              </a:rPr>
              <a:t>Prototype: recommended plan on a chart of voyage tracks</a:t>
            </a:r>
          </a:p>
        </p:txBody>
      </p:sp>
      <p:pic>
        <p:nvPicPr>
          <p:cNvPr id="17424" name="Picture 17423" descr="_crop_dash_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4078224"/>
            <a:ext cx="4812897" cy="1938528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17425" name="TextBox 17424"/>
          <p:cNvSpPr txBox="1"/>
          <p:nvPr/>
        </p:nvSpPr>
        <p:spPr>
          <a:xfrm>
            <a:off x="4315968" y="6035040"/>
            <a:ext cx="4812897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50" i="1" b="0">
                <a:solidFill>
                  <a:srgbClr val="404040"/>
                </a:solidFill>
                <a:latin typeface="Arial"/>
              </a:rPr>
              <a:t>Draft gauge: which ship fits Hay Point to Paradip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9308592" y="4078224"/>
            <a:ext cx="2212848" cy="1938528"/>
          </a:xfrm>
          <a:prstGeom prst="rect">
            <a:avLst/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Built and running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One-command data refresh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19 ports, every limit cited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Forecast backtest report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Plan in seconds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37 automated tests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Public code on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 xml:space="preserve">Built: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data pipeline, cited limits for 19 ports, forecasting, optimiser, dashboard (37 tests)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 xml:space="preserve">Checked: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Hay Point to Paradip Capesize, model 153,810 t vs 152,702 t actual call (6 Sep 2026)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 xml:space="preserve">Tested: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forecasts backtested on 2021 to 2026 data; a 6-month plan solves in seconds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 xml:space="preserve">Cost: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open-source stack on a laptop or one cloud VM; code public on GitHub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 xml:space="preserve">Needs from SAIL: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import plan, fixture history, bunker and port costs (placeholders today)</a:t>
            </a:r>
          </a:p>
          <a:p>
            <a:pPr marL="342900" marR="0" lvl="0" indent="-342900" algn="just" defTabSz="457200" rtl="0" eaLnBrk="1" fontAlgn="base" latinLnBrk="0" hangingPunct="1">
              <a:spcBef>
                <a:spcPts val="70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1. Public data cannot predict freight direction (no model beat "no change" in testing)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2. Per-class and period freight rates are licensed data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3. Port limits change with tide and dredging; a few are not yet sourced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4. Managers may not trust a black-box plan</a:t>
            </a:r>
          </a:p>
          <a:p>
            <a:pPr marL="342900" marR="0" lvl="0" indent="-342900" algn="just" defTabSz="457200" rtl="0" eaLnBrk="1" fontAlgn="base" latinLnBrk="0" hangingPunct="1">
              <a:spcBef>
                <a:spcPts val="700"/>
              </a:spcBef>
              <a:spcAft>
                <a:spcPts val="200"/>
              </a:spcAft>
              <a:buFont typeface="Arial"/>
              <a:buChar char="•"/>
            </a:pPr>
            <a:r>
              <a:rPr kumimoji="0" lang="en-US" sz="20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 for overcoming these challenges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1. Plan on ranges and scenarios; add the FFA forward curve with licensed data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2. Baltic S8 route (Indonesia to East Coast India) or SAIL fixtures use the same pipeline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3. Each limit stored with source and date; gaps shown on the dashboard</a:t>
            </a:r>
          </a:p>
          <a:p>
            <a:pPr marL="685800" indent="-228600" algn="l">
              <a:spcBef>
                <a:spcPts val="0"/>
              </a:spcBef>
              <a:spcAft>
                <a:spcPts val="100"/>
              </a:spcAft>
              <a:buFont typeface="Wingdings" pitchFamily="2" charset="2"/>
              <a:buChar char="§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4. Reasons for every ship choice; manager sets the risk weight; plan shown against all spot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/>
              <a:t>Vector66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kumimoji="0" lang="en-US" sz="21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Chartering team: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 forward contract plan and ship choice with reasons, not daily market scanning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Plant operations: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steadier coal arrivals, fewer stock-outs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Port users: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ships sized to each port's draft, fewer waiting days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Management: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expected and worst-case freight cost visible before committing</a:t>
            </a:r>
          </a:p>
          <a:p>
            <a:pPr marL="342900" marR="0" lvl="0" indent="-342900" algn="just" defTabSz="457200" rtl="0" eaLnBrk="1" fontAlgn="base" latinLnBrk="0" hangingPunct="1">
              <a:spcBef>
                <a:spcPts val="1400"/>
              </a:spcBef>
              <a:spcAft>
                <a:spcPts val="200"/>
              </a:spcAft>
              <a:buFont typeface="Arial"/>
              <a:buChar char="•"/>
            </a:pPr>
            <a:r>
              <a:rPr lang="en-US" sz="2100" dirty="0" b="1"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Economic (example run*):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worst-10% programme cost $128.9M all spot vs $98.5M with the plan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Operational: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spare chartered days relet, not idle; every decision auditable</a:t>
            </a:r>
          </a:p>
          <a:p>
            <a:pPr marL="685800" indent="-228600" algn="l">
              <a:spcBef>
                <a:spcPts val="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kumimoji="0" lang="en-US" sz="155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 xml:space="preserve">Environmental: </a:t>
            </a:r>
            <a:r>
              <a:rPr kumimoji="0" lang="en-US" sz="155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fewer ballast and waiting days means less fuel burnt</a:t>
            </a:r>
          </a:p>
          <a:p>
            <a:pPr marL="68580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*Synthetic 3.88 Mt, 6-month programme with placeholder costs and 200 freight scenarios; real figures need SAIL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/>
              <a:t>Vector66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2000" noProof="0" dirty="0" b="1"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SIH 2026 problem statement SIH26006 (Ministry of Steel, SAIL)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4"/>
              </a:rPr>
              <a:t>sih.gov.in/sih2026PS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Baltic Exchange: Guide to Market Benchmarks v8.7 (Aug 2026), standard vessels and TCE method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5"/>
              </a:rPr>
              <a:t>balticexchange.com/.../ocean-bulk-guides-policies/GMB.pdf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East Coast limits: Visakhapatnam Port Authority berth dimensions; Paradip Port Authority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6"/>
              </a:rPr>
              <a:t>vpt.shipping.gov.in/admin_assets/uploads/1640237145_Berth Details.pdf | paradipport.gov.in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Adani Ports: Gangavaram BPTS (Oct 2024) and Dhamra BPTS (Oct 2025), berth parameters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7"/>
              </a:rPr>
              <a:t>cdn.gac.com/prod/docs/INDIA-Gangavaram_New-BPTS-Oct-2024.pdf | adaniports.com (Dhamra BPTS)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Load ports: DBCT Terminal Information Booklet (Hay Point); Port of Gladstone Handbook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8"/>
              </a:rPr>
              <a:t>dbct.squarespace.com/s/Terminal-Information-Booklet-Procedure.pdf | gpcl.com.au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Passages: Torres Pilots draft limits; Suez Canal Authority; Danish Maritime Authority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9"/>
              </a:rPr>
              <a:t>torrespilots.com.au/pilot-info/draft-restrictions | suezcanal.gov.eg | soefartsstyrelsen.dk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Data feeds: FRED (Brent, USD/INR); World Bank Pink Sheet; Open-Meteo ERA5 marine; BDRY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10"/>
              </a:rPr>
              <a:t>fred.stlouisfed.org | worldbank.org/en/research/commodity-markets | open-meteo.com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Methods: searoute (Eurostat MARNET); HiGHS solver; LightGBM; statsmodels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11"/>
              </a:rPr>
              <a:t>github.com/genthalili/searoute-py | highs.dev | lightgbm.readthedocs.io</a:t>
            </a:r>
          </a:p>
          <a:p>
            <a:pPr marL="685800" indent="-228600" algn="l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350" noProof="0" dirty="0" b="1">
                <a:latin typeface="Arial" pitchFamily="34" charset="0"/>
                <a:cs typeface="Arial" pitchFamily="34" charset="0"/>
              </a:rPr>
              <a:t>Project repository, method notes and backtest report (Team Vector66)</a:t>
            </a:r>
          </a:p>
          <a:p>
            <a:pPr marL="68580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150" noProof="0" dirty="0" u="sng">
                <a:solidFill>
                  <a:srgbClr val="0563C1"/>
                </a:solidFill>
                <a:latin typeface="Arial" pitchFamily="34" charset="0"/>
                <a:cs typeface="Arial" pitchFamily="34" charset="0"/>
                <a:hlinkClick r:id="rId12"/>
              </a:rPr>
              <a:t>github.com/Tarkshya-26/nauplan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/>
              <a:t>Vector66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